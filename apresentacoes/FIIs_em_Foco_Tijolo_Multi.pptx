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9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TRXF11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-1.2</c:v>
                </c:pt>
                <c:pt idx="2">
                  <c:v>0.85</c:v>
                </c:pt>
                <c:pt idx="3">
                  <c:v>4.39</c:v>
                </c:pt>
                <c:pt idx="4">
                  <c:v>5.39</c:v>
                </c:pt>
                <c:pt idx="5">
                  <c:v>2.94</c:v>
                </c:pt>
                <c:pt idx="6">
                  <c:v>1.28</c:v>
                </c:pt>
                <c:pt idx="7">
                  <c:v>-0.3</c:v>
                </c:pt>
                <c:pt idx="8">
                  <c:v>-0.52</c:v>
                </c:pt>
                <c:pt idx="9">
                  <c:v>0.33</c:v>
                </c:pt>
                <c:pt idx="10">
                  <c:v>1.46</c:v>
                </c:pt>
                <c:pt idx="11">
                  <c:v>0.99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0.63</c:v>
                </c:pt>
                <c:pt idx="2">
                  <c:v>4.52</c:v>
                </c:pt>
                <c:pt idx="3">
                  <c:v>6.24</c:v>
                </c:pt>
                <c:pt idx="4">
                  <c:v>8.36</c:v>
                </c:pt>
                <c:pt idx="5">
                  <c:v>10.19</c:v>
                </c:pt>
                <c:pt idx="6">
                  <c:v>12.98</c:v>
                </c:pt>
                <c:pt idx="7">
                  <c:v>13.7</c:v>
                </c:pt>
                <c:pt idx="8">
                  <c:v>13.63</c:v>
                </c:pt>
                <c:pt idx="9">
                  <c:v>14.75</c:v>
                </c:pt>
                <c:pt idx="10">
                  <c:v>13.45</c:v>
                </c:pt>
                <c:pt idx="11">
                  <c:v>10.55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HGRU11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1.59</c:v>
                </c:pt>
                <c:pt idx="2">
                  <c:v>3.94</c:v>
                </c:pt>
                <c:pt idx="3">
                  <c:v>4.35</c:v>
                </c:pt>
                <c:pt idx="4">
                  <c:v>5.59</c:v>
                </c:pt>
                <c:pt idx="5">
                  <c:v>5.65</c:v>
                </c:pt>
                <c:pt idx="6">
                  <c:v>9.38</c:v>
                </c:pt>
                <c:pt idx="7">
                  <c:v>11.97</c:v>
                </c:pt>
                <c:pt idx="8">
                  <c:v>11.84</c:v>
                </c:pt>
                <c:pt idx="9">
                  <c:v>14.88</c:v>
                </c:pt>
                <c:pt idx="10">
                  <c:v>13.44</c:v>
                </c:pt>
                <c:pt idx="11">
                  <c:v>11.77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0.63</c:v>
                </c:pt>
                <c:pt idx="2">
                  <c:v>4.52</c:v>
                </c:pt>
                <c:pt idx="3">
                  <c:v>6.24</c:v>
                </c:pt>
                <c:pt idx="4">
                  <c:v>8.36</c:v>
                </c:pt>
                <c:pt idx="5">
                  <c:v>10.19</c:v>
                </c:pt>
                <c:pt idx="6">
                  <c:v>12.98</c:v>
                </c:pt>
                <c:pt idx="7">
                  <c:v>13.7</c:v>
                </c:pt>
                <c:pt idx="8">
                  <c:v>13.63</c:v>
                </c:pt>
                <c:pt idx="9">
                  <c:v>14.75</c:v>
                </c:pt>
                <c:pt idx="10">
                  <c:v>13.45</c:v>
                </c:pt>
                <c:pt idx="11">
                  <c:v>10.55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KNRI11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-0.48</c:v>
                </c:pt>
                <c:pt idx="2">
                  <c:v>5.53</c:v>
                </c:pt>
                <c:pt idx="3">
                  <c:v>6.68</c:v>
                </c:pt>
                <c:pt idx="4">
                  <c:v>8.97</c:v>
                </c:pt>
                <c:pt idx="5">
                  <c:v>11.87</c:v>
                </c:pt>
                <c:pt idx="6">
                  <c:v>21.37</c:v>
                </c:pt>
                <c:pt idx="7">
                  <c:v>24.19</c:v>
                </c:pt>
                <c:pt idx="8">
                  <c:v>24.58</c:v>
                </c:pt>
                <c:pt idx="9">
                  <c:v>25.33</c:v>
                </c:pt>
                <c:pt idx="10">
                  <c:v>22.15</c:v>
                </c:pt>
                <c:pt idx="11">
                  <c:v>15.04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0.63</c:v>
                </c:pt>
                <c:pt idx="2">
                  <c:v>4.52</c:v>
                </c:pt>
                <c:pt idx="3">
                  <c:v>6.24</c:v>
                </c:pt>
                <c:pt idx="4">
                  <c:v>8.36</c:v>
                </c:pt>
                <c:pt idx="5">
                  <c:v>10.19</c:v>
                </c:pt>
                <c:pt idx="6">
                  <c:v>12.98</c:v>
                </c:pt>
                <c:pt idx="7">
                  <c:v>13.7</c:v>
                </c:pt>
                <c:pt idx="8">
                  <c:v>13.63</c:v>
                </c:pt>
                <c:pt idx="9">
                  <c:v>14.75</c:v>
                </c:pt>
                <c:pt idx="10">
                  <c:v>13.45</c:v>
                </c:pt>
                <c:pt idx="11">
                  <c:v>10.55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GARE11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1.28</c:v>
                </c:pt>
                <c:pt idx="2">
                  <c:v>2.22</c:v>
                </c:pt>
                <c:pt idx="3">
                  <c:v>3.88</c:v>
                </c:pt>
                <c:pt idx="4">
                  <c:v>6.6</c:v>
                </c:pt>
                <c:pt idx="5">
                  <c:v>5.46</c:v>
                </c:pt>
                <c:pt idx="6">
                  <c:v>3.23</c:v>
                </c:pt>
                <c:pt idx="7">
                  <c:v>1.7</c:v>
                </c:pt>
                <c:pt idx="8">
                  <c:v>2.47</c:v>
                </c:pt>
                <c:pt idx="9">
                  <c:v>2.01</c:v>
                </c:pt>
                <c:pt idx="10">
                  <c:v>1.93</c:v>
                </c:pt>
                <c:pt idx="11">
                  <c:v>0.32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0.63</c:v>
                </c:pt>
                <c:pt idx="2">
                  <c:v>4.52</c:v>
                </c:pt>
                <c:pt idx="3">
                  <c:v>6.24</c:v>
                </c:pt>
                <c:pt idx="4">
                  <c:v>8.36</c:v>
                </c:pt>
                <c:pt idx="5">
                  <c:v>10.19</c:v>
                </c:pt>
                <c:pt idx="6">
                  <c:v>12.98</c:v>
                </c:pt>
                <c:pt idx="7">
                  <c:v>13.7</c:v>
                </c:pt>
                <c:pt idx="8">
                  <c:v>13.63</c:v>
                </c:pt>
                <c:pt idx="9">
                  <c:v>14.75</c:v>
                </c:pt>
                <c:pt idx="10">
                  <c:v>13.45</c:v>
                </c:pt>
                <c:pt idx="11">
                  <c:v>10.55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ALZR11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2.03</c:v>
                </c:pt>
                <c:pt idx="2">
                  <c:v>7.51</c:v>
                </c:pt>
                <c:pt idx="3">
                  <c:v>7.35</c:v>
                </c:pt>
                <c:pt idx="4">
                  <c:v>10.35</c:v>
                </c:pt>
                <c:pt idx="5">
                  <c:v>11.84</c:v>
                </c:pt>
                <c:pt idx="6">
                  <c:v>12.62</c:v>
                </c:pt>
                <c:pt idx="7">
                  <c:v>13.92</c:v>
                </c:pt>
                <c:pt idx="8">
                  <c:v>11.94</c:v>
                </c:pt>
                <c:pt idx="9">
                  <c:v>13.26</c:v>
                </c:pt>
                <c:pt idx="10">
                  <c:v>10.47</c:v>
                </c:pt>
                <c:pt idx="11">
                  <c:v>7.15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0.63</c:v>
                </c:pt>
                <c:pt idx="2">
                  <c:v>4.52</c:v>
                </c:pt>
                <c:pt idx="3">
                  <c:v>6.24</c:v>
                </c:pt>
                <c:pt idx="4">
                  <c:v>8.36</c:v>
                </c:pt>
                <c:pt idx="5">
                  <c:v>10.19</c:v>
                </c:pt>
                <c:pt idx="6">
                  <c:v>12.98</c:v>
                </c:pt>
                <c:pt idx="7">
                  <c:v>13.7</c:v>
                </c:pt>
                <c:pt idx="8">
                  <c:v>13.63</c:v>
                </c:pt>
                <c:pt idx="9">
                  <c:v>14.75</c:v>
                </c:pt>
                <c:pt idx="10">
                  <c:v>13.45</c:v>
                </c:pt>
                <c:pt idx="11">
                  <c:v>10.55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RBVA11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3.96</c:v>
                </c:pt>
                <c:pt idx="2">
                  <c:v>12.07</c:v>
                </c:pt>
                <c:pt idx="3">
                  <c:v>18.3</c:v>
                </c:pt>
                <c:pt idx="4">
                  <c:v>21.02</c:v>
                </c:pt>
                <c:pt idx="5">
                  <c:v>29.01</c:v>
                </c:pt>
                <c:pt idx="6">
                  <c:v>25.36</c:v>
                </c:pt>
                <c:pt idx="7">
                  <c:v>25.75</c:v>
                </c:pt>
                <c:pt idx="8">
                  <c:v>26.51</c:v>
                </c:pt>
                <c:pt idx="9">
                  <c:v>28.32</c:v>
                </c:pt>
                <c:pt idx="10">
                  <c:v>25.32</c:v>
                </c:pt>
                <c:pt idx="11">
                  <c:v>19.84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0.63</c:v>
                </c:pt>
                <c:pt idx="2">
                  <c:v>4.52</c:v>
                </c:pt>
                <c:pt idx="3">
                  <c:v>6.24</c:v>
                </c:pt>
                <c:pt idx="4">
                  <c:v>8.36</c:v>
                </c:pt>
                <c:pt idx="5">
                  <c:v>10.19</c:v>
                </c:pt>
                <c:pt idx="6">
                  <c:v>12.98</c:v>
                </c:pt>
                <c:pt idx="7">
                  <c:v>13.7</c:v>
                </c:pt>
                <c:pt idx="8">
                  <c:v>13.63</c:v>
                </c:pt>
                <c:pt idx="9">
                  <c:v>14.75</c:v>
                </c:pt>
                <c:pt idx="10">
                  <c:v>13.45</c:v>
                </c:pt>
                <c:pt idx="11">
                  <c:v>10.55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TVRI11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1.86</c:v>
                </c:pt>
                <c:pt idx="2">
                  <c:v>4.81</c:v>
                </c:pt>
                <c:pt idx="3">
                  <c:v>4.77</c:v>
                </c:pt>
                <c:pt idx="4">
                  <c:v>8.66</c:v>
                </c:pt>
                <c:pt idx="5">
                  <c:v>15.22</c:v>
                </c:pt>
                <c:pt idx="6">
                  <c:v>20.39</c:v>
                </c:pt>
                <c:pt idx="7">
                  <c:v>18.21</c:v>
                </c:pt>
                <c:pt idx="8">
                  <c:v>18.46</c:v>
                </c:pt>
                <c:pt idx="9">
                  <c:v>16.61</c:v>
                </c:pt>
                <c:pt idx="10">
                  <c:v>12.35</c:v>
                </c:pt>
                <c:pt idx="11">
                  <c:v>7.59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0.63</c:v>
                </c:pt>
                <c:pt idx="2">
                  <c:v>4.52</c:v>
                </c:pt>
                <c:pt idx="3">
                  <c:v>6.24</c:v>
                </c:pt>
                <c:pt idx="4">
                  <c:v>8.36</c:v>
                </c:pt>
                <c:pt idx="5">
                  <c:v>10.19</c:v>
                </c:pt>
                <c:pt idx="6">
                  <c:v>12.98</c:v>
                </c:pt>
                <c:pt idx="7">
                  <c:v>13.7</c:v>
                </c:pt>
                <c:pt idx="8">
                  <c:v>13.63</c:v>
                </c:pt>
                <c:pt idx="9">
                  <c:v>14.75</c:v>
                </c:pt>
                <c:pt idx="10">
                  <c:v>13.45</c:v>
                </c:pt>
                <c:pt idx="11">
                  <c:v>10.55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RZAT11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0.77</c:v>
                </c:pt>
                <c:pt idx="2">
                  <c:v>4.2</c:v>
                </c:pt>
                <c:pt idx="3">
                  <c:v>2.6</c:v>
                </c:pt>
                <c:pt idx="4">
                  <c:v>3</c:v>
                </c:pt>
                <c:pt idx="5">
                  <c:v>5.52</c:v>
                </c:pt>
                <c:pt idx="6">
                  <c:v>8.98</c:v>
                </c:pt>
                <c:pt idx="7">
                  <c:v>12.14</c:v>
                </c:pt>
                <c:pt idx="8">
                  <c:v>12.51</c:v>
                </c:pt>
                <c:pt idx="9">
                  <c:v>22.06</c:v>
                </c:pt>
                <c:pt idx="10">
                  <c:v>21.2</c:v>
                </c:pt>
                <c:pt idx="11">
                  <c:v>20.6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0.63</c:v>
                </c:pt>
                <c:pt idx="2">
                  <c:v>4.52</c:v>
                </c:pt>
                <c:pt idx="3">
                  <c:v>6.24</c:v>
                </c:pt>
                <c:pt idx="4">
                  <c:v>8.36</c:v>
                </c:pt>
                <c:pt idx="5">
                  <c:v>10.19</c:v>
                </c:pt>
                <c:pt idx="6">
                  <c:v>12.98</c:v>
                </c:pt>
                <c:pt idx="7">
                  <c:v>13.7</c:v>
                </c:pt>
                <c:pt idx="8">
                  <c:v>13.63</c:v>
                </c:pt>
                <c:pt idx="9">
                  <c:v>14.75</c:v>
                </c:pt>
                <c:pt idx="10">
                  <c:v>13.45</c:v>
                </c:pt>
                <c:pt idx="11">
                  <c:v>10.55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33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34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6" Type="http://schemas.openxmlformats.org/officeDocument/2006/relationships/image" Target="../media/image-3-5.png"/><Relationship Id="rId7" Type="http://schemas.openxmlformats.org/officeDocument/2006/relationships/image" Target="../media/image-3-6.png"/><Relationship Id="rId8" Type="http://schemas.openxmlformats.org/officeDocument/2006/relationships/image" Target="../media/image-3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35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6" Type="http://schemas.openxmlformats.org/officeDocument/2006/relationships/image" Target="../media/image-4-5.png"/><Relationship Id="rId7" Type="http://schemas.openxmlformats.org/officeDocument/2006/relationships/image" Target="../media/image-4-6.png"/><Relationship Id="rId8" Type="http://schemas.openxmlformats.org/officeDocument/2006/relationships/image" Target="../media/image-4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36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6" Type="http://schemas.openxmlformats.org/officeDocument/2006/relationships/image" Target="../media/image-5-5.png"/><Relationship Id="rId7" Type="http://schemas.openxmlformats.org/officeDocument/2006/relationships/image" Target="../media/image-5-6.png"/><Relationship Id="rId8" Type="http://schemas.openxmlformats.org/officeDocument/2006/relationships/image" Target="../media/image-5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37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6" Type="http://schemas.openxmlformats.org/officeDocument/2006/relationships/image" Target="../media/image-6-5.png"/><Relationship Id="rId7" Type="http://schemas.openxmlformats.org/officeDocument/2006/relationships/image" Target="../media/image-6-6.png"/><Relationship Id="rId8" Type="http://schemas.openxmlformats.org/officeDocument/2006/relationships/image" Target="../media/image-6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38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image" Target="../media/image-7-6.png"/><Relationship Id="rId8" Type="http://schemas.openxmlformats.org/officeDocument/2006/relationships/image" Target="../media/image-7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39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6" Type="http://schemas.openxmlformats.org/officeDocument/2006/relationships/image" Target="../media/image-8-5.png"/><Relationship Id="rId7" Type="http://schemas.openxmlformats.org/officeDocument/2006/relationships/image" Target="../media/image-8-6.png"/><Relationship Id="rId8" Type="http://schemas.openxmlformats.org/officeDocument/2006/relationships/image" Target="../media/image-8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4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6" Type="http://schemas.openxmlformats.org/officeDocument/2006/relationships/image" Target="../media/image-9-5.png"/><Relationship Id="rId7" Type="http://schemas.openxmlformats.org/officeDocument/2006/relationships/image" Target="../media/image-9-6.png"/><Relationship Id="rId8" Type="http://schemas.openxmlformats.org/officeDocument/2006/relationships/image" Target="../media/image-9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0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1020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020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 FUNDOS IMOBILIÁRIOS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FIIs em Foco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Setor: Tijolo Multissetorial — destaques, riscos, proventos e indicadores operacionais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566928" cy="566928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4302252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95728" y="4160520"/>
            <a:ext cx="566928" cy="566928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460" y="430225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84248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968496" y="4160520"/>
            <a:ext cx="566928" cy="566928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228" y="430225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57016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541264" y="4160520"/>
            <a:ext cx="566928" cy="566928"/>
          </a:xfrm>
          <a:prstGeom prst="ellipse">
            <a:avLst/>
          </a:prstGeom>
          <a:solidFill>
            <a:srgbClr val="C85A0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996" y="4302252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29784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Proventos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114032" y="4160520"/>
            <a:ext cx="566928" cy="566928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5764" y="4302252"/>
            <a:ext cx="283464" cy="2834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702552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fundos do setor • cartões padronizados para leitura rápida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TRXF11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712671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7126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Tijolo Multissetorial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Trx Real Estate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R$ 90,50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0,91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R$ 0,88 – 0,98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715293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0,0%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HGRU11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712671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7126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Tijolo Multissetorial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Pátria Renda Urbana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R$ 128,57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R$ 0,90 – 1,00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790215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139154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0,8%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KNRI11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712671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7126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Tijolo Multissetorial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Kinea Renda Imobiliária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R$ 157,75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0,96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16,2%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R$ 1,04 – 1,16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485730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0,1%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GARE11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712671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7126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Tijolo Multissetorial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Real Estate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R$ 8,27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0,88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R$ 0,08 – 0,09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486921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0,0%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ALZR11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712671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7126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Tijolo Multissetorial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 Trust Renda Imobiliária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R$ 10,36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0,98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11,9%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R$ 0,08 – 0,09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216756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301284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11,9%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RBVA11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712671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7126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Tijolo Multissetorial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Bravo Renda Varejo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R$ 9,60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11,3%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0,90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23,9%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R$ 0,09 – 0,09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1284387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1022958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6,0%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TVRI11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712671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7126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Tijolo Multissetorial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Tivio Renda Imobiliária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R$ 90,99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13,8%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0,87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14,2%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R$ 1,00 – 1,10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64388" cy="73152"/>
          </a:xfrm>
          <a:prstGeom prst="roundRect">
            <a:avLst>
              <a:gd name="adj" fmla="val 42604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RZAT11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1712671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17126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Tijolo Multissetorial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Riza Arctium Real Estate FII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R$ 95,74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0,94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19,7%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R$ 1,33 – 1,47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431596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0,0%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FIIs em Foco — Tijolo Multissetorial</dc:title>
  <dc:subject>PptxGenJS Presentation</dc:subject>
  <dc:creator>ImobData — Monitor de FIIs</dc:creator>
  <cp:lastModifiedBy>ImobData — Monitor de FIIs</cp:lastModifiedBy>
  <cp:revision>1</cp:revision>
  <dcterms:created xsi:type="dcterms:W3CDTF">2026-06-10T14:17:31Z</dcterms:created>
  <dcterms:modified xsi:type="dcterms:W3CDTF">2026-06-10T14:17:31Z</dcterms:modified>
</cp:coreProperties>
</file>