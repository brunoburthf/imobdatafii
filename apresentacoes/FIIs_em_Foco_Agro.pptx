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49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BTAL11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0.18</c:v>
                </c:pt>
                <c:pt idx="2">
                  <c:v>5.46</c:v>
                </c:pt>
                <c:pt idx="3">
                  <c:v>0.57</c:v>
                </c:pt>
                <c:pt idx="4">
                  <c:v>5.99</c:v>
                </c:pt>
                <c:pt idx="5">
                  <c:v>13.49</c:v>
                </c:pt>
                <c:pt idx="6">
                  <c:v>18.46</c:v>
                </c:pt>
                <c:pt idx="7">
                  <c:v>22.87</c:v>
                </c:pt>
                <c:pt idx="8">
                  <c:v>24.19</c:v>
                </c:pt>
                <c:pt idx="9">
                  <c:v>25.87</c:v>
                </c:pt>
                <c:pt idx="10">
                  <c:v>23.72</c:v>
                </c:pt>
                <c:pt idx="11">
                  <c:v>22.05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0.18</c:v>
                </c:pt>
                <c:pt idx="2">
                  <c:v>5.46</c:v>
                </c:pt>
                <c:pt idx="3">
                  <c:v>0.57</c:v>
                </c:pt>
                <c:pt idx="4">
                  <c:v>5.99</c:v>
                </c:pt>
                <c:pt idx="5">
                  <c:v>13.49</c:v>
                </c:pt>
                <c:pt idx="6">
                  <c:v>18.46</c:v>
                </c:pt>
                <c:pt idx="7">
                  <c:v>22.87</c:v>
                </c:pt>
                <c:pt idx="8">
                  <c:v>24.19</c:v>
                </c:pt>
                <c:pt idx="9">
                  <c:v>25.87</c:v>
                </c:pt>
                <c:pt idx="10">
                  <c:v>23.43</c:v>
                </c:pt>
                <c:pt idx="11">
                  <c:v>21.67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BTRA11</c:v>
                </c:pt>
              </c:strCache>
            </c:strRef>
          </c:tx>
          <c:spPr>
            <a:solidFill>
              <a:srgbClr val="EC7000"/>
            </a:solidFill>
            <a:ln w="28575" cap="flat">
              <a:solidFill>
                <a:srgbClr val="EC7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7000"/>
              </a:solidFill>
              <a:ln w="9525" cap="flat">
                <a:solidFill>
                  <a:srgbClr val="EC7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0.57</c:v>
                </c:pt>
                <c:pt idx="2">
                  <c:v>5.42</c:v>
                </c:pt>
                <c:pt idx="3">
                  <c:v>13.23</c:v>
                </c:pt>
                <c:pt idx="4">
                  <c:v>14.53</c:v>
                </c:pt>
                <c:pt idx="5">
                  <c:v>20.18</c:v>
                </c:pt>
                <c:pt idx="6">
                  <c:v>36.61</c:v>
                </c:pt>
                <c:pt idx="7">
                  <c:v>40.39</c:v>
                </c:pt>
                <c:pt idx="8">
                  <c:v>35.79</c:v>
                </c:pt>
                <c:pt idx="9">
                  <c:v>34.94</c:v>
                </c:pt>
                <c:pt idx="10">
                  <c:v>26.46</c:v>
                </c:pt>
                <c:pt idx="11">
                  <c:v>24.38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Média do setor</c:v>
                </c:pt>
              </c:strCache>
            </c:strRef>
          </c:tx>
          <c:spPr>
            <a:solidFill>
              <a:srgbClr val="9AA7B5"/>
            </a:solidFill>
            <a:ln w="28575" cap="flat">
              <a:solidFill>
                <a:srgbClr val="9AA7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7B5"/>
              </a:solidFill>
              <a:ln w="9525" cap="flat">
                <a:solidFill>
                  <a:srgbClr val="9AA7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ago</c:v>
                  </c:pt>
                  <c:pt idx="2">
                    <c:v>set</c:v>
                  </c:pt>
                  <c:pt idx="3">
                    <c:v>out</c:v>
                  </c:pt>
                  <c:pt idx="4">
                    <c:v>nov</c:v>
                  </c:pt>
                  <c:pt idx="5">
                    <c:v>dez</c:v>
                  </c:pt>
                  <c:pt idx="6">
                    <c:v>jan</c:v>
                  </c:pt>
                  <c:pt idx="7">
                    <c:v>fev</c:v>
                  </c:pt>
                  <c:pt idx="8">
                    <c:v>mar</c:v>
                  </c:pt>
                  <c:pt idx="9">
                    <c:v>abr</c:v>
                  </c:pt>
                  <c:pt idx="10">
                    <c:v>mai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0.18</c:v>
                </c:pt>
                <c:pt idx="2">
                  <c:v>5.46</c:v>
                </c:pt>
                <c:pt idx="3">
                  <c:v>0.57</c:v>
                </c:pt>
                <c:pt idx="4">
                  <c:v>5.99</c:v>
                </c:pt>
                <c:pt idx="5">
                  <c:v>13.49</c:v>
                </c:pt>
                <c:pt idx="6">
                  <c:v>18.46</c:v>
                </c:pt>
                <c:pt idx="7">
                  <c:v>22.87</c:v>
                </c:pt>
                <c:pt idx="8">
                  <c:v>24.19</c:v>
                </c:pt>
                <c:pt idx="9">
                  <c:v>25.87</c:v>
                </c:pt>
                <c:pt idx="10">
                  <c:v>23.43</c:v>
                </c:pt>
                <c:pt idx="11">
                  <c:v>21.67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8A97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E708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9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50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image" Target="../media/image-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0204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C7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 FUNDOS IMOBILIÁRIOS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FIIs em Foco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Setor: Agro — destaques, riscos, proventos e indicadores operacionais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566928" cy="566928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4302252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95728" y="4160520"/>
            <a:ext cx="566928" cy="566928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460" y="430225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84248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968496" y="4160520"/>
            <a:ext cx="566928" cy="566928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228" y="43022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57016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541264" y="4160520"/>
            <a:ext cx="566928" cy="566928"/>
          </a:xfrm>
          <a:prstGeom prst="ellipse">
            <a:avLst/>
          </a:prstGeom>
          <a:solidFill>
            <a:srgbClr val="C85A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2996" y="430225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9784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Proventos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114032" y="4160520"/>
            <a:ext cx="566928" cy="566928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5764" y="4302252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02552" y="480060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fundos do setor • cartões padronizados para leitura rápida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22960" y="63550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BTAL11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577901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5779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BTG Pactual Agro Logística Fundo de Investimento Nas Cadeias Produtivas do Agron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R$ 89,45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12,7%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0,77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32,8%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R$ 0,95 – 1,05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010D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2697480" y="49377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457200"/>
            <a:ext cx="224028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BTRA11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84048" y="1207008"/>
            <a:ext cx="577901" cy="310896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/>
        </p:spPr>
      </p:sp>
      <p:sp>
        <p:nvSpPr>
          <p:cNvPr id="6" name="Text 3"/>
          <p:cNvSpPr/>
          <p:nvPr/>
        </p:nvSpPr>
        <p:spPr>
          <a:xfrm>
            <a:off x="384048" y="1207008"/>
            <a:ext cx="5779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10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4048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BTG Pactual Terras Agrícolas Fundo de Investimento Nas Cadeias Produtivas do Agr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4048" y="23957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R$ 62,99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384048" y="2816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(FECHAMENTO)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84048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YIELD 12M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0,55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4048" y="44988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P/VP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4919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384048" y="53400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4048" y="57607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27,2%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384048" y="6181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520440" y="384048"/>
            <a:ext cx="5964631" cy="1481328"/>
          </a:xfrm>
          <a:prstGeom prst="roundRect">
            <a:avLst>
              <a:gd name="adj" fmla="val 5556"/>
            </a:avLst>
          </a:prstGeom>
          <a:solidFill>
            <a:srgbClr val="FBF3EC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721608" y="566928"/>
            <a:ext cx="457200" cy="457200"/>
          </a:xfrm>
          <a:prstGeom prst="ellipse">
            <a:avLst/>
          </a:prstGeom>
          <a:solidFill>
            <a:srgbClr val="EC700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908" y="681228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343400" y="566928"/>
            <a:ext cx="4958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do mês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4389120" y="1060704"/>
            <a:ext cx="4867351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Resumir as atualizacoes do mes a partir do ultimo relatorio gerencial.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Eventos relevantes recentes do fundo.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741103" y="384048"/>
            <a:ext cx="2011680" cy="1481328"/>
          </a:xfrm>
          <a:prstGeom prst="roundRect">
            <a:avLst>
              <a:gd name="adj" fmla="val 5556"/>
            </a:avLst>
          </a:prstGeom>
          <a:solidFill>
            <a:srgbClr val="FCF1E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832543" y="512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Proventos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832543" y="7955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R$ 0,85 – 0,95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0055" y="1042416"/>
            <a:ext cx="493776" cy="49377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832543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721608" y="2194560"/>
            <a:ext cx="457200" cy="457200"/>
          </a:xfrm>
          <a:prstGeom prst="ellipse">
            <a:avLst/>
          </a:prstGeom>
          <a:solidFill>
            <a:srgbClr val="010D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2308860"/>
            <a:ext cx="228600" cy="2286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343400" y="2194560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12m vs setor</a:t>
            </a:r>
            <a:endParaRPr lang="en-US" sz="14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666744" y="2615184"/>
          <a:ext cx="3686404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Shape 26"/>
          <p:cNvSpPr/>
          <p:nvPr/>
        </p:nvSpPr>
        <p:spPr>
          <a:xfrm>
            <a:off x="7773772" y="2011680"/>
            <a:ext cx="3979012" cy="1847088"/>
          </a:xfrm>
          <a:prstGeom prst="roundRect">
            <a:avLst>
              <a:gd name="adj" fmla="val 4455"/>
            </a:avLst>
          </a:prstGeom>
          <a:solidFill>
            <a:srgbClr val="EAF1F7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956652" y="2130552"/>
            <a:ext cx="365760" cy="365760"/>
          </a:xfrm>
          <a:prstGeom prst="ellipse">
            <a:avLst/>
          </a:prstGeom>
          <a:solidFill>
            <a:srgbClr val="1E5A8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8092" y="2221992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450428" y="2130552"/>
            <a:ext cx="3137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10271455" y="2249424"/>
            <a:ext cx="118872" cy="118872"/>
          </a:xfrm>
          <a:prstGeom prst="rect">
            <a:avLst/>
          </a:prstGeom>
          <a:solidFill>
            <a:srgbClr val="EC7000"/>
          </a:solidFill>
          <a:ln/>
        </p:spPr>
      </p:sp>
      <p:sp>
        <p:nvSpPr>
          <p:cNvPr id="38" name="Text 30"/>
          <p:cNvSpPr/>
          <p:nvPr/>
        </p:nvSpPr>
        <p:spPr>
          <a:xfrm>
            <a:off x="10426903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Fundo</a:t>
            </a:r>
            <a:endParaRPr lang="en-US" sz="750" dirty="0"/>
          </a:p>
        </p:txBody>
      </p:sp>
      <p:sp>
        <p:nvSpPr>
          <p:cNvPr id="39" name="Shape 31"/>
          <p:cNvSpPr/>
          <p:nvPr/>
        </p:nvSpPr>
        <p:spPr>
          <a:xfrm>
            <a:off x="10984687" y="2249424"/>
            <a:ext cx="118872" cy="118872"/>
          </a:xfrm>
          <a:prstGeom prst="rect">
            <a:avLst/>
          </a:prstGeom>
          <a:solidFill>
            <a:srgbClr val="9AA7B5"/>
          </a:solidFill>
          <a:ln/>
        </p:spPr>
      </p:sp>
      <p:sp>
        <p:nvSpPr>
          <p:cNvPr id="40" name="Text 32"/>
          <p:cNvSpPr/>
          <p:nvPr/>
        </p:nvSpPr>
        <p:spPr>
          <a:xfrm>
            <a:off x="11140135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1" name="Text 33"/>
          <p:cNvSpPr/>
          <p:nvPr/>
        </p:nvSpPr>
        <p:spPr>
          <a:xfrm>
            <a:off x="7956652" y="2542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Alavancagem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9053932" y="2578608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43" name="Shape 35"/>
          <p:cNvSpPr/>
          <p:nvPr/>
        </p:nvSpPr>
        <p:spPr>
          <a:xfrm>
            <a:off x="9053932" y="267462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4" name="Text 36"/>
          <p:cNvSpPr/>
          <p:nvPr/>
        </p:nvSpPr>
        <p:spPr>
          <a:xfrm>
            <a:off x="10911535" y="254203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37"/>
          <p:cNvSpPr/>
          <p:nvPr/>
        </p:nvSpPr>
        <p:spPr>
          <a:xfrm>
            <a:off x="10911535" y="267004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7956652" y="2798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/ Ativo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9053932" y="2834640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48" name="Shape 40"/>
          <p:cNvSpPr/>
          <p:nvPr/>
        </p:nvSpPr>
        <p:spPr>
          <a:xfrm>
            <a:off x="9053932" y="2930652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49" name="Text 41"/>
          <p:cNvSpPr/>
          <p:nvPr/>
        </p:nvSpPr>
        <p:spPr>
          <a:xfrm>
            <a:off x="10911535" y="279806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10911535" y="292608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5,0%</a:t>
            </a:r>
            <a:endParaRPr lang="en-US" sz="750" dirty="0"/>
          </a:p>
        </p:txBody>
      </p:sp>
      <p:sp>
        <p:nvSpPr>
          <p:cNvPr id="51" name="Text 43"/>
          <p:cNvSpPr/>
          <p:nvPr/>
        </p:nvSpPr>
        <p:spPr>
          <a:xfrm>
            <a:off x="7956652" y="30540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Vacância</a:t>
            </a:r>
            <a:endParaRPr lang="en-US" sz="800" dirty="0"/>
          </a:p>
        </p:txBody>
      </p:sp>
      <p:sp>
        <p:nvSpPr>
          <p:cNvPr id="52" name="Shape 44"/>
          <p:cNvSpPr/>
          <p:nvPr/>
        </p:nvSpPr>
        <p:spPr>
          <a:xfrm>
            <a:off x="9053932" y="3090672"/>
            <a:ext cx="27432" cy="73152"/>
          </a:xfrm>
          <a:prstGeom prst="roundRect">
            <a:avLst>
              <a:gd name="adj" fmla="val 100000"/>
            </a:avLst>
          </a:prstGeom>
          <a:solidFill>
            <a:srgbClr val="EC7000"/>
          </a:solidFill>
          <a:ln/>
        </p:spPr>
      </p:sp>
      <p:sp>
        <p:nvSpPr>
          <p:cNvPr id="53" name="Shape 45"/>
          <p:cNvSpPr/>
          <p:nvPr/>
        </p:nvSpPr>
        <p:spPr>
          <a:xfrm>
            <a:off x="9053932" y="318668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4" name="Text 46"/>
          <p:cNvSpPr/>
          <p:nvPr/>
        </p:nvSpPr>
        <p:spPr>
          <a:xfrm>
            <a:off x="10911535" y="30540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10911535" y="318211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9,5%</a:t>
            </a:r>
            <a:endParaRPr lang="en-US" sz="750" dirty="0"/>
          </a:p>
        </p:txBody>
      </p:sp>
      <p:sp>
        <p:nvSpPr>
          <p:cNvPr id="56" name="Text 48"/>
          <p:cNvSpPr/>
          <p:nvPr/>
        </p:nvSpPr>
        <p:spPr>
          <a:xfrm>
            <a:off x="7956652" y="33101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médio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9053932" y="3346704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EC7000"/>
          </a:solidFill>
          <a:ln/>
        </p:spPr>
      </p:sp>
      <p:sp>
        <p:nvSpPr>
          <p:cNvPr id="58" name="Shape 50"/>
          <p:cNvSpPr/>
          <p:nvPr/>
        </p:nvSpPr>
        <p:spPr>
          <a:xfrm>
            <a:off x="9053932" y="3442716"/>
            <a:ext cx="1627632" cy="73152"/>
          </a:xfrm>
          <a:prstGeom prst="roundRect">
            <a:avLst>
              <a:gd name="adj" fmla="val 37500"/>
            </a:avLst>
          </a:prstGeom>
          <a:solidFill>
            <a:srgbClr val="9AA7B5"/>
          </a:solidFill>
          <a:ln/>
        </p:spPr>
      </p:sp>
      <p:sp>
        <p:nvSpPr>
          <p:cNvPr id="59" name="Text 51"/>
          <p:cNvSpPr/>
          <p:nvPr/>
        </p:nvSpPr>
        <p:spPr>
          <a:xfrm>
            <a:off x="10911535" y="3310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50" dirty="0"/>
          </a:p>
        </p:txBody>
      </p:sp>
      <p:sp>
        <p:nvSpPr>
          <p:cNvPr id="60" name="Text 52"/>
          <p:cNvSpPr/>
          <p:nvPr/>
        </p:nvSpPr>
        <p:spPr>
          <a:xfrm>
            <a:off x="10911535" y="34381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 anos</a:t>
            </a:r>
            <a:endParaRPr lang="en-US" sz="750" dirty="0"/>
          </a:p>
        </p:txBody>
      </p:sp>
      <p:sp>
        <p:nvSpPr>
          <p:cNvPr id="61" name="Text 53"/>
          <p:cNvSpPr/>
          <p:nvPr/>
        </p:nvSpPr>
        <p:spPr>
          <a:xfrm>
            <a:off x="7956652" y="356616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/ m²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9053932" y="35661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3520440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ECF6F2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3721608" y="4178808"/>
            <a:ext cx="457200" cy="457200"/>
          </a:xfrm>
          <a:prstGeom prst="ellipse">
            <a:avLst/>
          </a:prstGeom>
          <a:solidFill>
            <a:srgbClr val="12876B"/>
          </a:solidFill>
          <a:ln/>
        </p:spPr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908" y="4293108"/>
            <a:ext cx="228600" cy="228600"/>
          </a:xfrm>
          <a:prstGeom prst="rect">
            <a:avLst/>
          </a:prstGeom>
        </p:spPr>
      </p:pic>
      <p:sp>
        <p:nvSpPr>
          <p:cNvPr id="66" name="Text 57"/>
          <p:cNvSpPr/>
          <p:nvPr/>
        </p:nvSpPr>
        <p:spPr>
          <a:xfrm>
            <a:off x="4343400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positivos</a:t>
            </a:r>
            <a:endParaRPr lang="en-US" sz="1450" dirty="0"/>
          </a:p>
        </p:txBody>
      </p:sp>
      <p:sp>
        <p:nvSpPr>
          <p:cNvPr id="67" name="Text 58"/>
          <p:cNvSpPr/>
          <p:nvPr/>
        </p:nvSpPr>
        <p:spPr>
          <a:xfrm>
            <a:off x="3776472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Pontos positivos do fundo (3 bullets concisos).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Vantagens competitivas e qualidade da gestao.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Diferenciais frente ao setor.</a:t>
            </a:r>
            <a:endParaRPr lang="en-US" sz="1100" dirty="0"/>
          </a:p>
        </p:txBody>
      </p:sp>
      <p:sp>
        <p:nvSpPr>
          <p:cNvPr id="68" name="Shape 59"/>
          <p:cNvSpPr/>
          <p:nvPr/>
        </p:nvSpPr>
        <p:spPr>
          <a:xfrm>
            <a:off x="7773772" y="3995928"/>
            <a:ext cx="3979012" cy="2386584"/>
          </a:xfrm>
          <a:prstGeom prst="roundRect">
            <a:avLst>
              <a:gd name="adj" fmla="val 3448"/>
            </a:avLst>
          </a:prstGeom>
          <a:solidFill>
            <a:srgbClr val="FBEEEA"/>
          </a:solidFill>
          <a:ln/>
          <a:effectLst>
            <a:outerShdw sx="100000" sy="100000" kx="0" ky="0" algn="bl" rotWithShape="0" blurRad="88900" dist="38100" dir="5400000">
              <a:srgbClr val="001A33">
                <a:alpha val="16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7974940" y="4178808"/>
            <a:ext cx="457200" cy="457200"/>
          </a:xfrm>
          <a:prstGeom prst="ellipse">
            <a:avLst/>
          </a:prstGeom>
          <a:solidFill>
            <a:srgbClr val="C0492F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4293108"/>
            <a:ext cx="228600" cy="228600"/>
          </a:xfrm>
          <a:prstGeom prst="rect">
            <a:avLst/>
          </a:prstGeom>
        </p:spPr>
      </p:pic>
      <p:sp>
        <p:nvSpPr>
          <p:cNvPr id="71" name="Text 61"/>
          <p:cNvSpPr/>
          <p:nvPr/>
        </p:nvSpPr>
        <p:spPr>
          <a:xfrm>
            <a:off x="8596732" y="4178808"/>
            <a:ext cx="2973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riscos</a:t>
            </a:r>
            <a:endParaRPr lang="en-US" sz="1450" dirty="0"/>
          </a:p>
        </p:txBody>
      </p:sp>
      <p:sp>
        <p:nvSpPr>
          <p:cNvPr id="72" name="Text 62"/>
          <p:cNvSpPr/>
          <p:nvPr/>
        </p:nvSpPr>
        <p:spPr>
          <a:xfrm>
            <a:off x="8029804" y="4764024"/>
            <a:ext cx="3476092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Principais riscos (3 bullets).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Sensibilidades macro relevantes.</a:t>
            </a:r>
            <a:endParaRPr lang="en-US" sz="1100" dirty="0"/>
          </a:p>
          <a:p>
            <a:pPr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[TODO] Concentracoes ou pendencias estruturais.</a:t>
            </a:r>
            <a:endParaRPr lang="en-US" sz="1100" dirty="0"/>
          </a:p>
        </p:txBody>
      </p:sp>
      <p:sp>
        <p:nvSpPr>
          <p:cNvPr id="73" name="Text 63"/>
          <p:cNvSpPr/>
          <p:nvPr/>
        </p:nvSpPr>
        <p:spPr>
          <a:xfrm>
            <a:off x="3520440" y="6528816"/>
            <a:ext cx="82323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Auto-gerado de data/. Atualizar campos subjetivos (update/pos/risk/guidance) com o ultimo relatorio gerencial.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FIIs em Foco — Agro</dc:title>
  <dc:subject>PptxGenJS Presentation</dc:subject>
  <dc:creator>ImobData — Monitor de FIIs</dc:creator>
  <cp:lastModifiedBy>ImobData — Monitor de FIIs</cp:lastModifiedBy>
  <cp:revision>1</cp:revision>
  <dcterms:created xsi:type="dcterms:W3CDTF">2026-06-10T14:17:32Z</dcterms:created>
  <dcterms:modified xsi:type="dcterms:W3CDTF">2026-06-10T14:17:32Z</dcterms:modified>
</cp:coreProperties>
</file>